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F077DC-2840-49C6-A6C9-3E9ED073247C}">
  <a:tblStyle styleId="{A1F077DC-2840-49C6-A6C9-3E9ED073247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230f1422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230f1422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230f1422c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230f1422c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230f1422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230f1422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28fa9ce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28fa9ce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230f1422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230f1422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230f1422c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230f1422c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230f1422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230f1422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230f1422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230f1422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230f1422c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230f1422c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230f1422c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230f1422c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680"/>
              <a:t>Propuesta de Proyecto: Product Matching</a:t>
            </a:r>
            <a:endParaRPr sz="3680"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Patricio Escudeiro (61156)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Jose Burgos (61525)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Un mismo producto, múltiples descripciones.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Desafío</a:t>
            </a:r>
            <a:r>
              <a:rPr lang="es" sz="2000"/>
              <a:t>:</a:t>
            </a:r>
            <a:endParaRPr sz="20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Integración masiva de bases de datos.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 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238050" y="2241050"/>
            <a:ext cx="8820300" cy="201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Ruido Extremo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78" name="Google Shape;78;p15"/>
          <p:cNvGraphicFramePr/>
          <p:nvPr/>
        </p:nvGraphicFramePr>
        <p:xfrm>
          <a:off x="104775" y="5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{A1F077DC-2840-49C6-A6C9-3E9ED073247C}</a:tableStyleId>
              </a:tblPr>
              <a:tblGrid>
                <a:gridCol w="1038225"/>
                <a:gridCol w="80486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Fuente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Título del Producto (Registro Real)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Amazon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i="1" lang="es" sz="1100"/>
                        <a:t>"mia's math adventure: just in time"</a:t>
                      </a:r>
                      <a:endParaRPr i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Google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i="1" lang="es" sz="1100"/>
                        <a:t>"kutoka interactive 61208 - mias math adventure (just in time) (win 95 98 me 2000 xp/mac 8.6-9.x (classic) x v10.1 or higher)"</a:t>
                      </a:r>
                      <a:endParaRPr i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25" y="500925"/>
            <a:ext cx="3706500" cy="15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Solución</a:t>
            </a:r>
            <a:r>
              <a:rPr lang="es"/>
              <a:t>: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Motor de similitud semántica basado en NLP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/>
              <a:t>Emparejar automáticamente productos idénticos (Record Linkage) entre fuentes heterogéneas.</a:t>
            </a:r>
            <a:endParaRPr sz="2000"/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2844075"/>
            <a:ext cx="3706500" cy="15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25" y="500925"/>
            <a:ext cx="3706500" cy="15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KPI: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F1-Score:</a:t>
            </a:r>
            <a:endParaRPr sz="2000"/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s" sz="2000"/>
              <a:t> &gt; 85%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Precisión:</a:t>
            </a:r>
            <a:endParaRPr sz="2000"/>
          </a:p>
          <a:p>
            <a:pPr indent="-355600" lvl="0" marL="9144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s" sz="2000"/>
              <a:t>&gt; 80%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s" sz="2000"/>
              <a:t>Minimizar Falsos Positivos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25" y="500925"/>
            <a:ext cx="37065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Datos: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Dataset:</a:t>
            </a:r>
            <a:endParaRPr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Amazon-Google Record Linkage Dataset.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Características</a:t>
            </a:r>
            <a:r>
              <a:rPr lang="es" sz="2000"/>
              <a:t>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-"/>
            </a:pPr>
            <a:r>
              <a:rPr lang="es" sz="1500"/>
              <a:t>Títulos, descripciones y marcas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Validación: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-"/>
            </a:pPr>
            <a:r>
              <a:rPr lang="es" sz="1500"/>
              <a:t>Uso de un Perfect Mapping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/>
              <a:t>Falsos positivos</a:t>
            </a:r>
            <a:endParaRPr i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25" y="3444150"/>
            <a:ext cx="37065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Riesgo: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0" y="0"/>
            <a:ext cx="1619251" cy="107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0556" y="-7"/>
            <a:ext cx="1274625" cy="70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Problemática - Potencial Falso Positivo</a:t>
            </a:r>
            <a:endParaRPr/>
          </a:p>
        </p:txBody>
      </p:sp>
      <p:graphicFrame>
        <p:nvGraphicFramePr>
          <p:cNvPr id="106" name="Google Shape;106;p19"/>
          <p:cNvGraphicFramePr/>
          <p:nvPr/>
        </p:nvGraphicFramePr>
        <p:xfrm>
          <a:off x="15240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{A1F077DC-2840-49C6-A6C9-3E9ED073247C}</a:tableStyleId>
              </a:tblPr>
              <a:tblGrid>
                <a:gridCol w="1324650"/>
                <a:gridCol w="7666950"/>
              </a:tblGrid>
              <a:tr h="76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Fuente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Título del Producto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Amazon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i="1" lang="es" sz="1100"/>
                        <a:t>"Microsoft Office Home and Student 2007"</a:t>
                      </a:r>
                      <a:endParaRPr i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s" sz="1100"/>
                        <a:t>Google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i="1" lang="es" sz="1100"/>
                        <a:t>"Microsoft Office Home and Student 2007 </a:t>
                      </a:r>
                      <a:r>
                        <a:rPr b="1" i="1" lang="es" sz="1100"/>
                        <a:t>[Spanish]</a:t>
                      </a:r>
                      <a:r>
                        <a:rPr i="1" lang="es" sz="1100"/>
                        <a:t>"</a:t>
                      </a:r>
                      <a:endParaRPr i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238050" y="2336475"/>
            <a:ext cx="8820300" cy="201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Alta similitud </a:t>
            </a:r>
            <a:r>
              <a:rPr lang="e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semántica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Distintos Producto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Impacto</a:t>
            </a:r>
            <a:r>
              <a:rPr lang="es"/>
              <a:t> y Beneficios: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Eficiencia:</a:t>
            </a:r>
            <a:endParaRPr sz="20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Eliminación de cuellos de botella en la ingesta de datos.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000"/>
              <a:t>Escalabilidad:</a:t>
            </a:r>
            <a:endParaRPr sz="20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es" sz="1500"/>
              <a:t>Integración rápida de nuevos proveedores.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/>
              <a:t>Reducción drástica de horas-hombre en auditoría manual y eliminación de stock duplicado.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21"/>
          <p:cNvGrpSpPr/>
          <p:nvPr/>
        </p:nvGrpSpPr>
        <p:grpSpPr>
          <a:xfrm>
            <a:off x="2688745" y="628697"/>
            <a:ext cx="3768522" cy="3724376"/>
            <a:chOff x="2675582" y="676586"/>
            <a:chExt cx="3793942" cy="3790328"/>
          </a:xfrm>
        </p:grpSpPr>
        <p:sp>
          <p:nvSpPr>
            <p:cNvPr id="119" name="Google Shape;119;p21"/>
            <p:cNvSpPr/>
            <p:nvPr/>
          </p:nvSpPr>
          <p:spPr>
            <a:xfrm rot="-7199815">
              <a:off x="3183352" y="1184485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1"/>
            <p:cNvSpPr/>
            <p:nvPr/>
          </p:nvSpPr>
          <p:spPr>
            <a:xfrm rot="-1799815">
              <a:off x="3183352" y="1184357"/>
              <a:ext cx="2774659" cy="2774659"/>
            </a:xfrm>
            <a:prstGeom prst="blockArc">
              <a:avLst>
                <a:gd fmla="val 12622480" name="adj1"/>
                <a:gd fmla="val 18176457" name="adj2"/>
                <a:gd fmla="val 20786" name="adj3"/>
              </a:avLst>
            </a:prstGeom>
            <a:solidFill>
              <a:srgbClr val="1F887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 rot="3600185">
              <a:off x="3187094" y="1184439"/>
              <a:ext cx="2774659" cy="2774659"/>
            </a:xfrm>
            <a:prstGeom prst="blockArc">
              <a:avLst>
                <a:gd fmla="val 12564381" name="adj1"/>
                <a:gd fmla="val 18346131" name="adj2"/>
                <a:gd fmla="val 20844" name="adj3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1"/>
            <p:cNvSpPr/>
            <p:nvPr/>
          </p:nvSpPr>
          <p:spPr>
            <a:xfrm rot="9000185">
              <a:off x="3185977" y="1184485"/>
              <a:ext cx="2774659" cy="2774659"/>
            </a:xfrm>
            <a:prstGeom prst="blockArc">
              <a:avLst>
                <a:gd fmla="val 12622480" name="adj1"/>
                <a:gd fmla="val 18081133" name="adj2"/>
                <a:gd fmla="val 20809" name="adj3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21"/>
            <p:cNvGrpSpPr/>
            <p:nvPr/>
          </p:nvGrpSpPr>
          <p:grpSpPr>
            <a:xfrm rot="5400000">
              <a:off x="5379663" y="2278951"/>
              <a:ext cx="585001" cy="585472"/>
              <a:chOff x="1967628" y="812211"/>
              <a:chExt cx="588000" cy="588000"/>
            </a:xfrm>
          </p:grpSpPr>
          <p:sp>
            <p:nvSpPr>
              <p:cNvPr id="124" name="Google Shape;124;p21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B786F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21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B786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21"/>
            <p:cNvGrpSpPr/>
            <p:nvPr/>
          </p:nvGrpSpPr>
          <p:grpSpPr>
            <a:xfrm rot="10800000">
              <a:off x="4280709" y="3378529"/>
              <a:ext cx="585001" cy="585472"/>
              <a:chOff x="1967628" y="812211"/>
              <a:chExt cx="588000" cy="588000"/>
            </a:xfrm>
          </p:grpSpPr>
          <p:sp>
            <p:nvSpPr>
              <p:cNvPr id="127" name="Google Shape;127;p21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D7E75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21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D7E7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" name="Google Shape;129;p21"/>
            <p:cNvGrpSpPr/>
            <p:nvPr/>
          </p:nvGrpSpPr>
          <p:grpSpPr>
            <a:xfrm rot="-5400000">
              <a:off x="3179922" y="2281478"/>
              <a:ext cx="585001" cy="585472"/>
              <a:chOff x="1967628" y="812211"/>
              <a:chExt cx="588000" cy="588000"/>
            </a:xfrm>
          </p:grpSpPr>
          <p:sp>
            <p:nvSpPr>
              <p:cNvPr id="130" name="Google Shape;130;p21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F887E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21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F887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" name="Google Shape;132;p21"/>
            <p:cNvSpPr txBox="1"/>
            <p:nvPr/>
          </p:nvSpPr>
          <p:spPr>
            <a:xfrm>
              <a:off x="3214513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3" name="Google Shape;133;p21"/>
            <p:cNvSpPr txBox="1"/>
            <p:nvPr/>
          </p:nvSpPr>
          <p:spPr>
            <a:xfrm>
              <a:off x="4335750" y="3460301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5419402" y="2360618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5" name="Google Shape;135;p21"/>
            <p:cNvGrpSpPr/>
            <p:nvPr/>
          </p:nvGrpSpPr>
          <p:grpSpPr>
            <a:xfrm>
              <a:off x="4261689" y="1180926"/>
              <a:ext cx="585001" cy="585530"/>
              <a:chOff x="1967628" y="812211"/>
              <a:chExt cx="588000" cy="588000"/>
            </a:xfrm>
          </p:grpSpPr>
          <p:sp>
            <p:nvSpPr>
              <p:cNvPr id="136" name="Google Shape;136;p21"/>
              <p:cNvSpPr/>
              <p:nvPr/>
            </p:nvSpPr>
            <p:spPr>
              <a:xfrm rot="39023">
                <a:off x="1970909" y="815492"/>
                <a:ext cx="581437" cy="581437"/>
              </a:xfrm>
              <a:prstGeom prst="pie">
                <a:avLst>
                  <a:gd fmla="val 6190354" name="adj1"/>
                  <a:gd fmla="val 14996165" name="adj2"/>
                </a:avLst>
              </a:prstGeom>
              <a:solidFill>
                <a:srgbClr val="155B55"/>
              </a:solidFill>
              <a:ln>
                <a:noFill/>
              </a:ln>
              <a:effectLst>
                <a:outerShdw blurRad="142875" rotWithShape="0" algn="bl">
                  <a:srgbClr val="000000">
                    <a:alpha val="4300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21"/>
              <p:cNvSpPr/>
              <p:nvPr/>
            </p:nvSpPr>
            <p:spPr>
              <a:xfrm rot="10800000">
                <a:off x="1970875" y="815525"/>
                <a:ext cx="581400" cy="581400"/>
              </a:xfrm>
              <a:prstGeom prst="pie">
                <a:avLst>
                  <a:gd fmla="val 4028252" name="adj1"/>
                  <a:gd fmla="val 17183677" name="adj2"/>
                </a:avLst>
              </a:prstGeom>
              <a:solidFill>
                <a:srgbClr val="155B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" name="Google Shape;138;p21"/>
            <p:cNvSpPr txBox="1"/>
            <p:nvPr/>
          </p:nvSpPr>
          <p:spPr>
            <a:xfrm>
              <a:off x="4335750" y="1254446"/>
              <a:ext cx="507900" cy="26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57150" y="1061293"/>
            <a:ext cx="3629063" cy="1272547"/>
            <a:chOff x="57150" y="1170475"/>
            <a:chExt cx="3629063" cy="1289700"/>
          </a:xfrm>
        </p:grpSpPr>
        <p:sp>
          <p:nvSpPr>
            <p:cNvPr id="140" name="Google Shape;140;p21"/>
            <p:cNvSpPr txBox="1"/>
            <p:nvPr/>
          </p:nvSpPr>
          <p:spPr>
            <a:xfrm>
              <a:off x="57150" y="1170475"/>
              <a:ext cx="25050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" sz="1900">
                  <a:solidFill>
                    <a:schemeClr val="dk1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Análisis Exploratorio (EDA) y limpieza del texto.</a:t>
              </a:r>
              <a:endParaRPr b="1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1" name="Google Shape;141;p21"/>
            <p:cNvCxnSpPr/>
            <p:nvPr/>
          </p:nvCxnSpPr>
          <p:spPr>
            <a:xfrm rot="10800000">
              <a:off x="2641913" y="1831625"/>
              <a:ext cx="1044300" cy="0"/>
            </a:xfrm>
            <a:prstGeom prst="straightConnector1">
              <a:avLst/>
            </a:prstGeom>
            <a:noFill/>
            <a:ln cap="flat" cmpd="sng" w="9525">
              <a:solidFill>
                <a:srgbClr val="1F887E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2" name="Google Shape;142;p21"/>
          <p:cNvGrpSpPr/>
          <p:nvPr/>
        </p:nvGrpSpPr>
        <p:grpSpPr>
          <a:xfrm>
            <a:off x="0" y="2697045"/>
            <a:ext cx="3952913" cy="1272547"/>
            <a:chOff x="0" y="2828275"/>
            <a:chExt cx="3952913" cy="1289700"/>
          </a:xfrm>
        </p:grpSpPr>
        <p:sp>
          <p:nvSpPr>
            <p:cNvPr id="143" name="Google Shape;143;p21"/>
            <p:cNvSpPr txBox="1"/>
            <p:nvPr/>
          </p:nvSpPr>
          <p:spPr>
            <a:xfrm>
              <a:off x="0" y="2828275"/>
              <a:ext cx="24474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" sz="1900">
                  <a:latin typeface="Merriweather"/>
                  <a:ea typeface="Merriweather"/>
                  <a:cs typeface="Merriweather"/>
                  <a:sym typeface="Merriweather"/>
                </a:rPr>
                <a:t>Generación de Embeddings.</a:t>
              </a:r>
              <a:endParaRPr b="1" sz="1900"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cxnSp>
          <p:nvCxnSpPr>
            <p:cNvPr id="144" name="Google Shape;144;p21"/>
            <p:cNvCxnSpPr/>
            <p:nvPr/>
          </p:nvCxnSpPr>
          <p:spPr>
            <a:xfrm rot="10800000">
              <a:off x="2641913" y="3489425"/>
              <a:ext cx="1311000" cy="0"/>
            </a:xfrm>
            <a:prstGeom prst="straightConnector1">
              <a:avLst/>
            </a:prstGeom>
            <a:noFill/>
            <a:ln cap="flat" cmpd="sng" w="9525">
              <a:solidFill>
                <a:srgbClr val="1D7E7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5" name="Google Shape;145;p21"/>
          <p:cNvGrpSpPr/>
          <p:nvPr/>
        </p:nvGrpSpPr>
        <p:grpSpPr>
          <a:xfrm>
            <a:off x="5209825" y="952633"/>
            <a:ext cx="3934050" cy="1272547"/>
            <a:chOff x="5209825" y="1060350"/>
            <a:chExt cx="3934050" cy="1289700"/>
          </a:xfrm>
        </p:grpSpPr>
        <p:sp>
          <p:nvSpPr>
            <p:cNvPr id="146" name="Google Shape;146;p21"/>
            <p:cNvSpPr txBox="1"/>
            <p:nvPr/>
          </p:nvSpPr>
          <p:spPr>
            <a:xfrm>
              <a:off x="6696475" y="1060350"/>
              <a:ext cx="24474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" sz="1900">
                  <a:latin typeface="Roboto"/>
                  <a:ea typeface="Roboto"/>
                  <a:cs typeface="Roboto"/>
                  <a:sym typeface="Roboto"/>
                </a:rPr>
                <a:t>Evaluación de matriz de confusión y métricas.</a:t>
              </a:r>
              <a:endParaRPr b="1" sz="19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7" name="Google Shape;147;p21"/>
            <p:cNvCxnSpPr/>
            <p:nvPr/>
          </p:nvCxnSpPr>
          <p:spPr>
            <a:xfrm>
              <a:off x="5209825" y="17052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55B55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8" name="Google Shape;148;p21"/>
          <p:cNvGrpSpPr/>
          <p:nvPr/>
        </p:nvGrpSpPr>
        <p:grpSpPr>
          <a:xfrm>
            <a:off x="5209825" y="2886664"/>
            <a:ext cx="3934050" cy="1272547"/>
            <a:chOff x="5209825" y="3020450"/>
            <a:chExt cx="3934050" cy="1289700"/>
          </a:xfrm>
        </p:grpSpPr>
        <p:sp>
          <p:nvSpPr>
            <p:cNvPr id="149" name="Google Shape;149;p21"/>
            <p:cNvSpPr txBox="1"/>
            <p:nvPr/>
          </p:nvSpPr>
          <p:spPr>
            <a:xfrm>
              <a:off x="6696475" y="3020450"/>
              <a:ext cx="2447400" cy="12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s" sz="1900">
                  <a:latin typeface="Roboto"/>
                  <a:ea typeface="Roboto"/>
                  <a:cs typeface="Roboto"/>
                  <a:sym typeface="Roboto"/>
                </a:rPr>
                <a:t>Búsqueda por similitud.</a:t>
              </a:r>
              <a:endParaRPr b="1" sz="1900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0" name="Google Shape;150;p21"/>
            <p:cNvCxnSpPr/>
            <p:nvPr/>
          </p:nvCxnSpPr>
          <p:spPr>
            <a:xfrm>
              <a:off x="5209825" y="3648300"/>
              <a:ext cx="1286700" cy="0"/>
            </a:xfrm>
            <a:prstGeom prst="straightConnector1">
              <a:avLst/>
            </a:prstGeom>
            <a:noFill/>
            <a:ln cap="flat" cmpd="sng" w="9525">
              <a:solidFill>
                <a:srgbClr val="1B786F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sp>
        <p:nvSpPr>
          <p:cNvPr id="151" name="Google Shape;151;p2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Metodología</a:t>
            </a:r>
            <a:r>
              <a:rPr lang="es" sz="2800"/>
              <a:t> (CRISP-DM)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Apéndice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 preview</a:t>
            </a:r>
            <a:endParaRPr/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9125"/>
            <a:ext cx="8839203" cy="29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